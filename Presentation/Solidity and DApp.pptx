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Poppins" panose="020B0502040204020203" pitchFamily="2" charset="0"/>
      <p:regular r:id="rId11"/>
    </p:embeddedFont>
    <p:embeddedFont>
      <p:font typeface="Poppi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988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2525" y="2338197"/>
            <a:ext cx="10441304" cy="320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78"/>
              </a:lnSpc>
            </a:pPr>
            <a:r>
              <a:rPr lang="en-US" sz="898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Solidity and DApp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34679" y="1442420"/>
            <a:ext cx="15018641" cy="7402160"/>
            <a:chOff x="0" y="0"/>
            <a:chExt cx="3955527" cy="19495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55527" cy="1949540"/>
            </a:xfrm>
            <a:custGeom>
              <a:avLst/>
              <a:gdLst/>
              <a:ahLst/>
              <a:cxnLst/>
              <a:rect l="l" t="t" r="r" b="b"/>
              <a:pathLst>
                <a:path w="3955527" h="1949540">
                  <a:moveTo>
                    <a:pt x="26290" y="0"/>
                  </a:moveTo>
                  <a:lnTo>
                    <a:pt x="3929237" y="0"/>
                  </a:lnTo>
                  <a:cubicBezTo>
                    <a:pt x="3943757" y="0"/>
                    <a:pt x="3955527" y="11770"/>
                    <a:pt x="3955527" y="26290"/>
                  </a:cubicBezTo>
                  <a:lnTo>
                    <a:pt x="3955527" y="1923250"/>
                  </a:lnTo>
                  <a:cubicBezTo>
                    <a:pt x="3955527" y="1937770"/>
                    <a:pt x="3943757" y="1949540"/>
                    <a:pt x="3929237" y="1949540"/>
                  </a:cubicBezTo>
                  <a:lnTo>
                    <a:pt x="26290" y="1949540"/>
                  </a:lnTo>
                  <a:cubicBezTo>
                    <a:pt x="11770" y="1949540"/>
                    <a:pt x="0" y="1937770"/>
                    <a:pt x="0" y="1923250"/>
                  </a:cubicBezTo>
                  <a:lnTo>
                    <a:pt x="0" y="26290"/>
                  </a:lnTo>
                  <a:cubicBezTo>
                    <a:pt x="0" y="11770"/>
                    <a:pt x="11770" y="0"/>
                    <a:pt x="26290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955527" cy="2006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56572" y="1684269"/>
            <a:ext cx="9974856" cy="1311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27"/>
              </a:lnSpc>
            </a:pPr>
            <a:r>
              <a:rPr lang="en-US" sz="7233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SOLIDITY?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7419" y="3495043"/>
            <a:ext cx="10713163" cy="474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5848" lvl="1" indent="-362924" algn="l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Solidity is a high-level, statically typed programming language specifically designed for writing smart contracts.</a:t>
            </a:r>
          </a:p>
          <a:p>
            <a:pPr algn="l">
              <a:lnSpc>
                <a:spcPts val="4706"/>
              </a:lnSpc>
            </a:pPr>
            <a:endParaRPr lang="en-US" sz="3361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25848" lvl="1" indent="-362924" algn="l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Smart Contracts: Enables the creation of self-executing contracts that automate processes and enforce agreements without intermediaries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75185" y="172511"/>
            <a:ext cx="15397699" cy="4319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13"/>
              </a:lnSpc>
            </a:pPr>
            <a:r>
              <a:rPr lang="en-US" sz="80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Solidity Syntax Overview</a:t>
            </a:r>
          </a:p>
          <a:p>
            <a:pPr algn="l">
              <a:lnSpc>
                <a:spcPts val="11313"/>
              </a:lnSpc>
            </a:pPr>
            <a:endParaRPr lang="en-US" sz="808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1313"/>
              </a:lnSpc>
            </a:pPr>
            <a:endParaRPr lang="en-US" sz="808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517145" y="1859217"/>
            <a:ext cx="7089527" cy="8142081"/>
            <a:chOff x="0" y="0"/>
            <a:chExt cx="1867201" cy="21444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7201" cy="2144416"/>
            </a:xfrm>
            <a:custGeom>
              <a:avLst/>
              <a:gdLst/>
              <a:ahLst/>
              <a:cxnLst/>
              <a:rect l="l" t="t" r="r" b="b"/>
              <a:pathLst>
                <a:path w="1867201" h="2144416">
                  <a:moveTo>
                    <a:pt x="55693" y="0"/>
                  </a:moveTo>
                  <a:lnTo>
                    <a:pt x="1811507" y="0"/>
                  </a:lnTo>
                  <a:cubicBezTo>
                    <a:pt x="1826278" y="0"/>
                    <a:pt x="1840444" y="5868"/>
                    <a:pt x="1850888" y="16312"/>
                  </a:cubicBezTo>
                  <a:cubicBezTo>
                    <a:pt x="1861333" y="26757"/>
                    <a:pt x="1867201" y="40922"/>
                    <a:pt x="1867201" y="55693"/>
                  </a:cubicBezTo>
                  <a:lnTo>
                    <a:pt x="1867201" y="2088723"/>
                  </a:lnTo>
                  <a:cubicBezTo>
                    <a:pt x="1867201" y="2103494"/>
                    <a:pt x="1861333" y="2117660"/>
                    <a:pt x="1850888" y="2128104"/>
                  </a:cubicBezTo>
                  <a:cubicBezTo>
                    <a:pt x="1840444" y="2138549"/>
                    <a:pt x="1826278" y="2144416"/>
                    <a:pt x="1811507" y="2144416"/>
                  </a:cubicBezTo>
                  <a:lnTo>
                    <a:pt x="55693" y="2144416"/>
                  </a:lnTo>
                  <a:cubicBezTo>
                    <a:pt x="40922" y="2144416"/>
                    <a:pt x="26757" y="2138549"/>
                    <a:pt x="16312" y="2128104"/>
                  </a:cubicBezTo>
                  <a:cubicBezTo>
                    <a:pt x="5868" y="2117660"/>
                    <a:pt x="0" y="2103494"/>
                    <a:pt x="0" y="2088723"/>
                  </a:cubicBezTo>
                  <a:lnTo>
                    <a:pt x="0" y="55693"/>
                  </a:lnTo>
                  <a:cubicBezTo>
                    <a:pt x="0" y="40922"/>
                    <a:pt x="5868" y="26757"/>
                    <a:pt x="16312" y="16312"/>
                  </a:cubicBezTo>
                  <a:cubicBezTo>
                    <a:pt x="26757" y="5868"/>
                    <a:pt x="40922" y="0"/>
                    <a:pt x="55693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867201" cy="2201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83357" y="1859217"/>
            <a:ext cx="7089527" cy="8142081"/>
            <a:chOff x="0" y="0"/>
            <a:chExt cx="1867201" cy="21444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67201" cy="2144416"/>
            </a:xfrm>
            <a:custGeom>
              <a:avLst/>
              <a:gdLst/>
              <a:ahLst/>
              <a:cxnLst/>
              <a:rect l="l" t="t" r="r" b="b"/>
              <a:pathLst>
                <a:path w="1867201" h="2144416">
                  <a:moveTo>
                    <a:pt x="55693" y="0"/>
                  </a:moveTo>
                  <a:lnTo>
                    <a:pt x="1811507" y="0"/>
                  </a:lnTo>
                  <a:cubicBezTo>
                    <a:pt x="1826278" y="0"/>
                    <a:pt x="1840444" y="5868"/>
                    <a:pt x="1850888" y="16312"/>
                  </a:cubicBezTo>
                  <a:cubicBezTo>
                    <a:pt x="1861333" y="26757"/>
                    <a:pt x="1867201" y="40922"/>
                    <a:pt x="1867201" y="55693"/>
                  </a:cubicBezTo>
                  <a:lnTo>
                    <a:pt x="1867201" y="2088723"/>
                  </a:lnTo>
                  <a:cubicBezTo>
                    <a:pt x="1867201" y="2103494"/>
                    <a:pt x="1861333" y="2117660"/>
                    <a:pt x="1850888" y="2128104"/>
                  </a:cubicBezTo>
                  <a:cubicBezTo>
                    <a:pt x="1840444" y="2138549"/>
                    <a:pt x="1826278" y="2144416"/>
                    <a:pt x="1811507" y="2144416"/>
                  </a:cubicBezTo>
                  <a:lnTo>
                    <a:pt x="55693" y="2144416"/>
                  </a:lnTo>
                  <a:cubicBezTo>
                    <a:pt x="40922" y="2144416"/>
                    <a:pt x="26757" y="2138549"/>
                    <a:pt x="16312" y="2128104"/>
                  </a:cubicBezTo>
                  <a:cubicBezTo>
                    <a:pt x="5868" y="2117660"/>
                    <a:pt x="0" y="2103494"/>
                    <a:pt x="0" y="2088723"/>
                  </a:cubicBezTo>
                  <a:lnTo>
                    <a:pt x="0" y="55693"/>
                  </a:lnTo>
                  <a:cubicBezTo>
                    <a:pt x="0" y="40922"/>
                    <a:pt x="5868" y="26757"/>
                    <a:pt x="16312" y="16312"/>
                  </a:cubicBezTo>
                  <a:cubicBezTo>
                    <a:pt x="26757" y="5868"/>
                    <a:pt x="40922" y="0"/>
                    <a:pt x="55693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67201" cy="2201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15480" y="2374928"/>
            <a:ext cx="6092856" cy="733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Data Types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Primitive Types: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uint , int, bool, address, string etc.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Arrays: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arrays for storing elements.</a:t>
            </a:r>
          </a:p>
          <a:p>
            <a:pPr algn="l">
              <a:lnSpc>
                <a:spcPts val="4189"/>
              </a:lnSpc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Syntax: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uint[] public numbers;</a:t>
            </a:r>
          </a:p>
          <a:p>
            <a:pPr algn="l">
              <a:lnSpc>
                <a:spcPts val="4189"/>
              </a:lnSpc>
            </a:pPr>
            <a:endParaRPr lang="en-US" sz="2992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Mapping: 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Key-value stores for efficient lookups, commonly used for state data</a:t>
            </a:r>
          </a:p>
          <a:p>
            <a:pPr algn="l">
              <a:lnSpc>
                <a:spcPts val="4189"/>
              </a:lnSpc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Syntax: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mapping(address =&gt; uint) public balances;</a:t>
            </a:r>
          </a:p>
          <a:p>
            <a:pPr algn="l">
              <a:lnSpc>
                <a:spcPts val="4189"/>
              </a:lnSpc>
            </a:pPr>
            <a:endParaRPr lang="en-US" sz="2992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081692" y="2374928"/>
            <a:ext cx="6092856" cy="733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Functions: Syntax: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function add(uint a, uint b) public pure returns (uint) {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     return a + b;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 }  </a:t>
            </a:r>
          </a:p>
          <a:p>
            <a:pPr algn="l">
              <a:lnSpc>
                <a:spcPts val="4189"/>
              </a:lnSpc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 Function Modifiers: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pure: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does not read from or modify the state.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view: 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only allowed to read state variables and cannot modify state.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payable: 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Functions marked as payable can receive and send 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75185" y="172511"/>
            <a:ext cx="15397699" cy="5747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13"/>
              </a:lnSpc>
            </a:pPr>
            <a:r>
              <a:rPr lang="en-US" sz="808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Writing a Smart Contract in Solidity</a:t>
            </a:r>
          </a:p>
          <a:p>
            <a:pPr algn="l">
              <a:lnSpc>
                <a:spcPts val="11313"/>
              </a:lnSpc>
            </a:pPr>
            <a:endParaRPr lang="en-US" sz="808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11313"/>
              </a:lnSpc>
            </a:pPr>
            <a:endParaRPr lang="en-US" sz="808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517145" y="3165503"/>
            <a:ext cx="7089527" cy="6835795"/>
            <a:chOff x="0" y="0"/>
            <a:chExt cx="1867201" cy="18003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7201" cy="1800374"/>
            </a:xfrm>
            <a:custGeom>
              <a:avLst/>
              <a:gdLst/>
              <a:ahLst/>
              <a:cxnLst/>
              <a:rect l="l" t="t" r="r" b="b"/>
              <a:pathLst>
                <a:path w="1867201" h="1800374">
                  <a:moveTo>
                    <a:pt x="55693" y="0"/>
                  </a:moveTo>
                  <a:lnTo>
                    <a:pt x="1811507" y="0"/>
                  </a:lnTo>
                  <a:cubicBezTo>
                    <a:pt x="1826278" y="0"/>
                    <a:pt x="1840444" y="5868"/>
                    <a:pt x="1850888" y="16312"/>
                  </a:cubicBezTo>
                  <a:cubicBezTo>
                    <a:pt x="1861333" y="26757"/>
                    <a:pt x="1867201" y="40922"/>
                    <a:pt x="1867201" y="55693"/>
                  </a:cubicBezTo>
                  <a:lnTo>
                    <a:pt x="1867201" y="1744681"/>
                  </a:lnTo>
                  <a:cubicBezTo>
                    <a:pt x="1867201" y="1759452"/>
                    <a:pt x="1861333" y="1773617"/>
                    <a:pt x="1850888" y="1784062"/>
                  </a:cubicBezTo>
                  <a:cubicBezTo>
                    <a:pt x="1840444" y="1794506"/>
                    <a:pt x="1826278" y="1800374"/>
                    <a:pt x="1811507" y="1800374"/>
                  </a:cubicBezTo>
                  <a:lnTo>
                    <a:pt x="55693" y="1800374"/>
                  </a:lnTo>
                  <a:cubicBezTo>
                    <a:pt x="40922" y="1800374"/>
                    <a:pt x="26757" y="1794506"/>
                    <a:pt x="16312" y="1784062"/>
                  </a:cubicBezTo>
                  <a:cubicBezTo>
                    <a:pt x="5868" y="1773617"/>
                    <a:pt x="0" y="1759452"/>
                    <a:pt x="0" y="1744681"/>
                  </a:cubicBezTo>
                  <a:lnTo>
                    <a:pt x="0" y="55693"/>
                  </a:lnTo>
                  <a:cubicBezTo>
                    <a:pt x="0" y="40922"/>
                    <a:pt x="5868" y="26757"/>
                    <a:pt x="16312" y="16312"/>
                  </a:cubicBezTo>
                  <a:cubicBezTo>
                    <a:pt x="26757" y="5868"/>
                    <a:pt x="40922" y="0"/>
                    <a:pt x="55693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867201" cy="1857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83357" y="3165503"/>
            <a:ext cx="7089527" cy="6835795"/>
            <a:chOff x="0" y="0"/>
            <a:chExt cx="1867201" cy="180037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67201" cy="1800374"/>
            </a:xfrm>
            <a:custGeom>
              <a:avLst/>
              <a:gdLst/>
              <a:ahLst/>
              <a:cxnLst/>
              <a:rect l="l" t="t" r="r" b="b"/>
              <a:pathLst>
                <a:path w="1867201" h="1800374">
                  <a:moveTo>
                    <a:pt x="55693" y="0"/>
                  </a:moveTo>
                  <a:lnTo>
                    <a:pt x="1811507" y="0"/>
                  </a:lnTo>
                  <a:cubicBezTo>
                    <a:pt x="1826278" y="0"/>
                    <a:pt x="1840444" y="5868"/>
                    <a:pt x="1850888" y="16312"/>
                  </a:cubicBezTo>
                  <a:cubicBezTo>
                    <a:pt x="1861333" y="26757"/>
                    <a:pt x="1867201" y="40922"/>
                    <a:pt x="1867201" y="55693"/>
                  </a:cubicBezTo>
                  <a:lnTo>
                    <a:pt x="1867201" y="1744681"/>
                  </a:lnTo>
                  <a:cubicBezTo>
                    <a:pt x="1867201" y="1759452"/>
                    <a:pt x="1861333" y="1773617"/>
                    <a:pt x="1850888" y="1784062"/>
                  </a:cubicBezTo>
                  <a:cubicBezTo>
                    <a:pt x="1840444" y="1794506"/>
                    <a:pt x="1826278" y="1800374"/>
                    <a:pt x="1811507" y="1800374"/>
                  </a:cubicBezTo>
                  <a:lnTo>
                    <a:pt x="55693" y="1800374"/>
                  </a:lnTo>
                  <a:cubicBezTo>
                    <a:pt x="40922" y="1800374"/>
                    <a:pt x="26757" y="1794506"/>
                    <a:pt x="16312" y="1784062"/>
                  </a:cubicBezTo>
                  <a:cubicBezTo>
                    <a:pt x="5868" y="1773617"/>
                    <a:pt x="0" y="1759452"/>
                    <a:pt x="0" y="1744681"/>
                  </a:cubicBezTo>
                  <a:lnTo>
                    <a:pt x="0" y="55693"/>
                  </a:lnTo>
                  <a:cubicBezTo>
                    <a:pt x="0" y="40922"/>
                    <a:pt x="5868" y="26757"/>
                    <a:pt x="16312" y="16312"/>
                  </a:cubicBezTo>
                  <a:cubicBezTo>
                    <a:pt x="26757" y="5868"/>
                    <a:pt x="40922" y="0"/>
                    <a:pt x="55693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67201" cy="1857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15480" y="3190729"/>
            <a:ext cx="6092856" cy="681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contract MyContract {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// State variables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uint public value; 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// Constructor 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constructor(uint initialValue) {           value = initialValue; 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// Function to set value  function setValue(uint                        newValue) public {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   value = newValue;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  }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81692" y="3190729"/>
            <a:ext cx="6092856" cy="681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State Variables: 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State variables are stored on blockchain.</a:t>
            </a:r>
          </a:p>
          <a:p>
            <a:pPr algn="l">
              <a:lnSpc>
                <a:spcPts val="4189"/>
              </a:lnSpc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Access Modifiers: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public: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can access from anywhere.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private: 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can access within the defined contract. 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internal: 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can access within the contract and in derived contracts.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external: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can access outside the contract.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75185" y="172511"/>
            <a:ext cx="15397699" cy="5747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13"/>
              </a:lnSpc>
            </a:pPr>
            <a:r>
              <a:rPr lang="en-US" sz="808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Writing a Smart Contract in Solidity</a:t>
            </a:r>
          </a:p>
          <a:p>
            <a:pPr algn="l">
              <a:lnSpc>
                <a:spcPts val="11313"/>
              </a:lnSpc>
            </a:pPr>
            <a:endParaRPr lang="en-US" sz="808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11313"/>
              </a:lnSpc>
            </a:pPr>
            <a:endParaRPr lang="en-US" sz="808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517145" y="3165503"/>
            <a:ext cx="7089527" cy="6835795"/>
            <a:chOff x="0" y="0"/>
            <a:chExt cx="1867201" cy="18003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7201" cy="1800374"/>
            </a:xfrm>
            <a:custGeom>
              <a:avLst/>
              <a:gdLst/>
              <a:ahLst/>
              <a:cxnLst/>
              <a:rect l="l" t="t" r="r" b="b"/>
              <a:pathLst>
                <a:path w="1867201" h="1800374">
                  <a:moveTo>
                    <a:pt x="55693" y="0"/>
                  </a:moveTo>
                  <a:lnTo>
                    <a:pt x="1811507" y="0"/>
                  </a:lnTo>
                  <a:cubicBezTo>
                    <a:pt x="1826278" y="0"/>
                    <a:pt x="1840444" y="5868"/>
                    <a:pt x="1850888" y="16312"/>
                  </a:cubicBezTo>
                  <a:cubicBezTo>
                    <a:pt x="1861333" y="26757"/>
                    <a:pt x="1867201" y="40922"/>
                    <a:pt x="1867201" y="55693"/>
                  </a:cubicBezTo>
                  <a:lnTo>
                    <a:pt x="1867201" y="1744681"/>
                  </a:lnTo>
                  <a:cubicBezTo>
                    <a:pt x="1867201" y="1759452"/>
                    <a:pt x="1861333" y="1773617"/>
                    <a:pt x="1850888" y="1784062"/>
                  </a:cubicBezTo>
                  <a:cubicBezTo>
                    <a:pt x="1840444" y="1794506"/>
                    <a:pt x="1826278" y="1800374"/>
                    <a:pt x="1811507" y="1800374"/>
                  </a:cubicBezTo>
                  <a:lnTo>
                    <a:pt x="55693" y="1800374"/>
                  </a:lnTo>
                  <a:cubicBezTo>
                    <a:pt x="40922" y="1800374"/>
                    <a:pt x="26757" y="1794506"/>
                    <a:pt x="16312" y="1784062"/>
                  </a:cubicBezTo>
                  <a:cubicBezTo>
                    <a:pt x="5868" y="1773617"/>
                    <a:pt x="0" y="1759452"/>
                    <a:pt x="0" y="1744681"/>
                  </a:cubicBezTo>
                  <a:lnTo>
                    <a:pt x="0" y="55693"/>
                  </a:lnTo>
                  <a:cubicBezTo>
                    <a:pt x="0" y="40922"/>
                    <a:pt x="5868" y="26757"/>
                    <a:pt x="16312" y="16312"/>
                  </a:cubicBezTo>
                  <a:cubicBezTo>
                    <a:pt x="26757" y="5868"/>
                    <a:pt x="40922" y="0"/>
                    <a:pt x="55693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867201" cy="1857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83357" y="3165503"/>
            <a:ext cx="7089527" cy="6835795"/>
            <a:chOff x="0" y="0"/>
            <a:chExt cx="1867201" cy="180037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67201" cy="1800374"/>
            </a:xfrm>
            <a:custGeom>
              <a:avLst/>
              <a:gdLst/>
              <a:ahLst/>
              <a:cxnLst/>
              <a:rect l="l" t="t" r="r" b="b"/>
              <a:pathLst>
                <a:path w="1867201" h="1800374">
                  <a:moveTo>
                    <a:pt x="55693" y="0"/>
                  </a:moveTo>
                  <a:lnTo>
                    <a:pt x="1811507" y="0"/>
                  </a:lnTo>
                  <a:cubicBezTo>
                    <a:pt x="1826278" y="0"/>
                    <a:pt x="1840444" y="5868"/>
                    <a:pt x="1850888" y="16312"/>
                  </a:cubicBezTo>
                  <a:cubicBezTo>
                    <a:pt x="1861333" y="26757"/>
                    <a:pt x="1867201" y="40922"/>
                    <a:pt x="1867201" y="55693"/>
                  </a:cubicBezTo>
                  <a:lnTo>
                    <a:pt x="1867201" y="1744681"/>
                  </a:lnTo>
                  <a:cubicBezTo>
                    <a:pt x="1867201" y="1759452"/>
                    <a:pt x="1861333" y="1773617"/>
                    <a:pt x="1850888" y="1784062"/>
                  </a:cubicBezTo>
                  <a:cubicBezTo>
                    <a:pt x="1840444" y="1794506"/>
                    <a:pt x="1826278" y="1800374"/>
                    <a:pt x="1811507" y="1800374"/>
                  </a:cubicBezTo>
                  <a:lnTo>
                    <a:pt x="55693" y="1800374"/>
                  </a:lnTo>
                  <a:cubicBezTo>
                    <a:pt x="40922" y="1800374"/>
                    <a:pt x="26757" y="1794506"/>
                    <a:pt x="16312" y="1784062"/>
                  </a:cubicBezTo>
                  <a:cubicBezTo>
                    <a:pt x="5868" y="1773617"/>
                    <a:pt x="0" y="1759452"/>
                    <a:pt x="0" y="1744681"/>
                  </a:cubicBezTo>
                  <a:lnTo>
                    <a:pt x="0" y="55693"/>
                  </a:lnTo>
                  <a:cubicBezTo>
                    <a:pt x="0" y="40922"/>
                    <a:pt x="5868" y="26757"/>
                    <a:pt x="16312" y="16312"/>
                  </a:cubicBezTo>
                  <a:cubicBezTo>
                    <a:pt x="26757" y="5868"/>
                    <a:pt x="40922" y="0"/>
                    <a:pt x="55693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67201" cy="1857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15480" y="3190729"/>
            <a:ext cx="6092856" cy="681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contract MyContract {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// State variables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uint public value; 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// Constructor 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constructor(uint initialValue) {           value = initialValue; 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// Function to set value  function setValue(uint                        newValue) public {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   value = newValue;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  } 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81692" y="3190729"/>
            <a:ext cx="6092856" cy="681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State Variables: 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State variables are stored on blockchain.</a:t>
            </a:r>
          </a:p>
          <a:p>
            <a:pPr algn="l">
              <a:lnSpc>
                <a:spcPts val="4189"/>
              </a:lnSpc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Access Modifiers: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public: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can access from anywhere.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private: 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can access within the defined contract. 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internal: 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can access within the contract and in derived contracts.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external:</a:t>
            </a: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can access outside the contract.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470068" y="1809736"/>
            <a:ext cx="13347864" cy="6667528"/>
            <a:chOff x="0" y="0"/>
            <a:chExt cx="3515487" cy="17560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15487" cy="1756057"/>
            </a:xfrm>
            <a:custGeom>
              <a:avLst/>
              <a:gdLst/>
              <a:ahLst/>
              <a:cxnLst/>
              <a:rect l="l" t="t" r="r" b="b"/>
              <a:pathLst>
                <a:path w="3515487" h="1756057">
                  <a:moveTo>
                    <a:pt x="29581" y="0"/>
                  </a:moveTo>
                  <a:lnTo>
                    <a:pt x="3485906" y="0"/>
                  </a:lnTo>
                  <a:cubicBezTo>
                    <a:pt x="3502243" y="0"/>
                    <a:pt x="3515487" y="13244"/>
                    <a:pt x="3515487" y="29581"/>
                  </a:cubicBezTo>
                  <a:lnTo>
                    <a:pt x="3515487" y="1726476"/>
                  </a:lnTo>
                  <a:cubicBezTo>
                    <a:pt x="3515487" y="1734321"/>
                    <a:pt x="3512370" y="1741845"/>
                    <a:pt x="3506823" y="1747393"/>
                  </a:cubicBezTo>
                  <a:cubicBezTo>
                    <a:pt x="3501275" y="1752940"/>
                    <a:pt x="3493751" y="1756057"/>
                    <a:pt x="3485906" y="1756057"/>
                  </a:cubicBezTo>
                  <a:lnTo>
                    <a:pt x="29581" y="1756057"/>
                  </a:lnTo>
                  <a:cubicBezTo>
                    <a:pt x="21735" y="1756057"/>
                    <a:pt x="14211" y="1752940"/>
                    <a:pt x="8664" y="1747393"/>
                  </a:cubicBezTo>
                  <a:cubicBezTo>
                    <a:pt x="3117" y="1741845"/>
                    <a:pt x="0" y="1734321"/>
                    <a:pt x="0" y="1726476"/>
                  </a:cubicBezTo>
                  <a:lnTo>
                    <a:pt x="0" y="29581"/>
                  </a:lnTo>
                  <a:cubicBezTo>
                    <a:pt x="0" y="13244"/>
                    <a:pt x="13244" y="0"/>
                    <a:pt x="29581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515487" cy="1813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90558" y="2170121"/>
            <a:ext cx="12506884" cy="1652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What are DApps?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48575" y="4492103"/>
            <a:ext cx="11390851" cy="2998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8045" lvl="1" indent="-304022" algn="l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A DApp (Decentralized Application) is an application that runs on a decentralized network, such as a blockchain, instead of a centralized server.</a:t>
            </a:r>
          </a:p>
          <a:p>
            <a:pPr algn="l">
              <a:lnSpc>
                <a:spcPts val="3942"/>
              </a:lnSpc>
            </a:pPr>
            <a:endParaRPr lang="en-US" sz="2816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8045" lvl="1" indent="-304022" algn="l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In traditional applications, centralised servers control data and execution of applications.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11074" y="789588"/>
            <a:ext cx="9662228" cy="136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96"/>
              </a:lnSpc>
            </a:pPr>
            <a:r>
              <a:rPr lang="en-US" sz="756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DApp Overview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38769" y="5681423"/>
            <a:ext cx="4803418" cy="3791285"/>
            <a:chOff x="0" y="0"/>
            <a:chExt cx="1553952" cy="1226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53952" cy="1226517"/>
            </a:xfrm>
            <a:custGeom>
              <a:avLst/>
              <a:gdLst/>
              <a:ahLst/>
              <a:cxnLst/>
              <a:rect l="l" t="t" r="r" b="b"/>
              <a:pathLst>
                <a:path w="1553952" h="1226517">
                  <a:moveTo>
                    <a:pt x="82199" y="0"/>
                  </a:moveTo>
                  <a:lnTo>
                    <a:pt x="1471752" y="0"/>
                  </a:lnTo>
                  <a:cubicBezTo>
                    <a:pt x="1517150" y="0"/>
                    <a:pt x="1553952" y="36802"/>
                    <a:pt x="1553952" y="82199"/>
                  </a:cubicBezTo>
                  <a:lnTo>
                    <a:pt x="1553952" y="1144317"/>
                  </a:lnTo>
                  <a:cubicBezTo>
                    <a:pt x="1553952" y="1189715"/>
                    <a:pt x="1517150" y="1226517"/>
                    <a:pt x="1471752" y="1226517"/>
                  </a:cubicBezTo>
                  <a:lnTo>
                    <a:pt x="82199" y="1226517"/>
                  </a:lnTo>
                  <a:cubicBezTo>
                    <a:pt x="36802" y="1226517"/>
                    <a:pt x="0" y="1189715"/>
                    <a:pt x="0" y="1144317"/>
                  </a:cubicBezTo>
                  <a:lnTo>
                    <a:pt x="0" y="82199"/>
                  </a:lnTo>
                  <a:cubicBezTo>
                    <a:pt x="0" y="36802"/>
                    <a:pt x="36802" y="0"/>
                    <a:pt x="8219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553952" cy="128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927898" y="6149335"/>
            <a:ext cx="3669577" cy="233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2"/>
              </a:lnSpc>
            </a:pPr>
            <a:r>
              <a:rPr lang="en-US" sz="3309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Write Smart Contract for your Application.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742291" y="5681423"/>
            <a:ext cx="4803418" cy="3791285"/>
            <a:chOff x="0" y="0"/>
            <a:chExt cx="1553952" cy="12265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3952" cy="1226517"/>
            </a:xfrm>
            <a:custGeom>
              <a:avLst/>
              <a:gdLst/>
              <a:ahLst/>
              <a:cxnLst/>
              <a:rect l="l" t="t" r="r" b="b"/>
              <a:pathLst>
                <a:path w="1553952" h="1226517">
                  <a:moveTo>
                    <a:pt x="82199" y="0"/>
                  </a:moveTo>
                  <a:lnTo>
                    <a:pt x="1471752" y="0"/>
                  </a:lnTo>
                  <a:cubicBezTo>
                    <a:pt x="1517150" y="0"/>
                    <a:pt x="1553952" y="36802"/>
                    <a:pt x="1553952" y="82199"/>
                  </a:cubicBezTo>
                  <a:lnTo>
                    <a:pt x="1553952" y="1144317"/>
                  </a:lnTo>
                  <a:cubicBezTo>
                    <a:pt x="1553952" y="1189715"/>
                    <a:pt x="1517150" y="1226517"/>
                    <a:pt x="1471752" y="1226517"/>
                  </a:cubicBezTo>
                  <a:lnTo>
                    <a:pt x="82199" y="1226517"/>
                  </a:lnTo>
                  <a:cubicBezTo>
                    <a:pt x="36802" y="1226517"/>
                    <a:pt x="0" y="1189715"/>
                    <a:pt x="0" y="1144317"/>
                  </a:cubicBezTo>
                  <a:lnTo>
                    <a:pt x="0" y="82199"/>
                  </a:lnTo>
                  <a:cubicBezTo>
                    <a:pt x="0" y="36802"/>
                    <a:pt x="36802" y="0"/>
                    <a:pt x="8219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553952" cy="128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45784" y="5640633"/>
            <a:ext cx="4803418" cy="3791285"/>
            <a:chOff x="0" y="0"/>
            <a:chExt cx="1553952" cy="12265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53952" cy="1226517"/>
            </a:xfrm>
            <a:custGeom>
              <a:avLst/>
              <a:gdLst/>
              <a:ahLst/>
              <a:cxnLst/>
              <a:rect l="l" t="t" r="r" b="b"/>
              <a:pathLst>
                <a:path w="1553952" h="1226517">
                  <a:moveTo>
                    <a:pt x="82199" y="0"/>
                  </a:moveTo>
                  <a:lnTo>
                    <a:pt x="1471752" y="0"/>
                  </a:lnTo>
                  <a:cubicBezTo>
                    <a:pt x="1517150" y="0"/>
                    <a:pt x="1553952" y="36802"/>
                    <a:pt x="1553952" y="82199"/>
                  </a:cubicBezTo>
                  <a:lnTo>
                    <a:pt x="1553952" y="1144317"/>
                  </a:lnTo>
                  <a:cubicBezTo>
                    <a:pt x="1553952" y="1189715"/>
                    <a:pt x="1517150" y="1226517"/>
                    <a:pt x="1471752" y="1226517"/>
                  </a:cubicBezTo>
                  <a:lnTo>
                    <a:pt x="82199" y="1226517"/>
                  </a:lnTo>
                  <a:cubicBezTo>
                    <a:pt x="36802" y="1226517"/>
                    <a:pt x="0" y="1189715"/>
                    <a:pt x="0" y="1144317"/>
                  </a:cubicBezTo>
                  <a:lnTo>
                    <a:pt x="0" y="82199"/>
                  </a:lnTo>
                  <a:cubicBezTo>
                    <a:pt x="0" y="36802"/>
                    <a:pt x="36802" y="0"/>
                    <a:pt x="8219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553952" cy="1283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11074" y="2535893"/>
            <a:ext cx="4803418" cy="1341999"/>
            <a:chOff x="0" y="0"/>
            <a:chExt cx="1553952" cy="43414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3952" cy="434149"/>
            </a:xfrm>
            <a:custGeom>
              <a:avLst/>
              <a:gdLst/>
              <a:ahLst/>
              <a:cxnLst/>
              <a:rect l="l" t="t" r="r" b="b"/>
              <a:pathLst>
                <a:path w="1553952" h="434149">
                  <a:moveTo>
                    <a:pt x="82199" y="0"/>
                  </a:moveTo>
                  <a:lnTo>
                    <a:pt x="1471752" y="0"/>
                  </a:lnTo>
                  <a:cubicBezTo>
                    <a:pt x="1517150" y="0"/>
                    <a:pt x="1553952" y="36802"/>
                    <a:pt x="1553952" y="82199"/>
                  </a:cubicBezTo>
                  <a:lnTo>
                    <a:pt x="1553952" y="351950"/>
                  </a:lnTo>
                  <a:cubicBezTo>
                    <a:pt x="1553952" y="397348"/>
                    <a:pt x="1517150" y="434149"/>
                    <a:pt x="1471752" y="434149"/>
                  </a:cubicBezTo>
                  <a:lnTo>
                    <a:pt x="82199" y="434149"/>
                  </a:lnTo>
                  <a:cubicBezTo>
                    <a:pt x="36802" y="434149"/>
                    <a:pt x="0" y="397348"/>
                    <a:pt x="0" y="351950"/>
                  </a:cubicBezTo>
                  <a:lnTo>
                    <a:pt x="0" y="82199"/>
                  </a:lnTo>
                  <a:cubicBezTo>
                    <a:pt x="0" y="36802"/>
                    <a:pt x="36802" y="0"/>
                    <a:pt x="8219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553952" cy="491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09108" y="2535893"/>
            <a:ext cx="4803418" cy="1341999"/>
            <a:chOff x="0" y="0"/>
            <a:chExt cx="1553952" cy="4341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53952" cy="434149"/>
            </a:xfrm>
            <a:custGeom>
              <a:avLst/>
              <a:gdLst/>
              <a:ahLst/>
              <a:cxnLst/>
              <a:rect l="l" t="t" r="r" b="b"/>
              <a:pathLst>
                <a:path w="1553952" h="434149">
                  <a:moveTo>
                    <a:pt x="82199" y="0"/>
                  </a:moveTo>
                  <a:lnTo>
                    <a:pt x="1471752" y="0"/>
                  </a:lnTo>
                  <a:cubicBezTo>
                    <a:pt x="1517150" y="0"/>
                    <a:pt x="1553952" y="36802"/>
                    <a:pt x="1553952" y="82199"/>
                  </a:cubicBezTo>
                  <a:lnTo>
                    <a:pt x="1553952" y="351950"/>
                  </a:lnTo>
                  <a:cubicBezTo>
                    <a:pt x="1553952" y="397348"/>
                    <a:pt x="1517150" y="434149"/>
                    <a:pt x="1471752" y="434149"/>
                  </a:cubicBezTo>
                  <a:lnTo>
                    <a:pt x="82199" y="434149"/>
                  </a:lnTo>
                  <a:cubicBezTo>
                    <a:pt x="36802" y="434149"/>
                    <a:pt x="0" y="397348"/>
                    <a:pt x="0" y="351950"/>
                  </a:cubicBezTo>
                  <a:lnTo>
                    <a:pt x="0" y="82199"/>
                  </a:lnTo>
                  <a:cubicBezTo>
                    <a:pt x="0" y="36802"/>
                    <a:pt x="36802" y="0"/>
                    <a:pt x="8219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553952" cy="491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12601" y="2535893"/>
            <a:ext cx="4803418" cy="1341999"/>
            <a:chOff x="0" y="0"/>
            <a:chExt cx="1553952" cy="43414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53952" cy="434149"/>
            </a:xfrm>
            <a:custGeom>
              <a:avLst/>
              <a:gdLst/>
              <a:ahLst/>
              <a:cxnLst/>
              <a:rect l="l" t="t" r="r" b="b"/>
              <a:pathLst>
                <a:path w="1553952" h="434149">
                  <a:moveTo>
                    <a:pt x="82199" y="0"/>
                  </a:moveTo>
                  <a:lnTo>
                    <a:pt x="1471752" y="0"/>
                  </a:lnTo>
                  <a:cubicBezTo>
                    <a:pt x="1517150" y="0"/>
                    <a:pt x="1553952" y="36802"/>
                    <a:pt x="1553952" y="82199"/>
                  </a:cubicBezTo>
                  <a:lnTo>
                    <a:pt x="1553952" y="351950"/>
                  </a:lnTo>
                  <a:cubicBezTo>
                    <a:pt x="1553952" y="397348"/>
                    <a:pt x="1517150" y="434149"/>
                    <a:pt x="1471752" y="434149"/>
                  </a:cubicBezTo>
                  <a:lnTo>
                    <a:pt x="82199" y="434149"/>
                  </a:lnTo>
                  <a:cubicBezTo>
                    <a:pt x="36802" y="434149"/>
                    <a:pt x="0" y="397348"/>
                    <a:pt x="0" y="351950"/>
                  </a:cubicBezTo>
                  <a:lnTo>
                    <a:pt x="0" y="82199"/>
                  </a:lnTo>
                  <a:cubicBezTo>
                    <a:pt x="0" y="36802"/>
                    <a:pt x="36802" y="0"/>
                    <a:pt x="82199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553952" cy="491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715713" y="2666939"/>
            <a:ext cx="1938749" cy="927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2"/>
              </a:lnSpc>
            </a:pPr>
            <a:r>
              <a:rPr lang="en-US" sz="5109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Client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47734" y="2666939"/>
            <a:ext cx="3081749" cy="927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2"/>
              </a:lnSpc>
            </a:pPr>
            <a:r>
              <a:rPr lang="en-US" sz="5109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57313" y="2653287"/>
            <a:ext cx="3669577" cy="1031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2"/>
              </a:lnSpc>
            </a:pPr>
            <a:r>
              <a:rPr lang="en-US" sz="2909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Blockchain through Smart Contract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086796" y="3225942"/>
            <a:ext cx="86661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7" name="AutoShape 27"/>
          <p:cNvSpPr/>
          <p:nvPr/>
        </p:nvSpPr>
        <p:spPr>
          <a:xfrm>
            <a:off x="11490318" y="3244992"/>
            <a:ext cx="86661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8" name="AutoShape 28"/>
          <p:cNvSpPr/>
          <p:nvPr/>
        </p:nvSpPr>
        <p:spPr>
          <a:xfrm>
            <a:off x="11812564" y="3296657"/>
            <a:ext cx="0" cy="59557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9" name="TextBox 29"/>
          <p:cNvSpPr txBox="1"/>
          <p:nvPr/>
        </p:nvSpPr>
        <p:spPr>
          <a:xfrm>
            <a:off x="11214754" y="4053768"/>
            <a:ext cx="1240036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Ethers js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365741" y="3244992"/>
            <a:ext cx="0" cy="59557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1" name="TextBox 31"/>
          <p:cNvSpPr txBox="1"/>
          <p:nvPr/>
        </p:nvSpPr>
        <p:spPr>
          <a:xfrm>
            <a:off x="5784402" y="4002103"/>
            <a:ext cx="1288844" cy="413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Browser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09197" y="6280211"/>
            <a:ext cx="3669577" cy="117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2"/>
              </a:lnSpc>
            </a:pPr>
            <a:r>
              <a:rPr lang="en-US" sz="3309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Deploy to the network.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734913" y="6280211"/>
            <a:ext cx="3669577" cy="233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2"/>
              </a:lnSpc>
            </a:pPr>
            <a:r>
              <a:rPr lang="en-US" sz="3309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Connect Smart Contract to frontend Using Ethers js.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87380" y="8539311"/>
            <a:ext cx="2667082" cy="516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Use Remix IDE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23200" y="8539311"/>
            <a:ext cx="2559000" cy="516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Use Hardhat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650609" y="8539311"/>
            <a:ext cx="4158159" cy="516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Use React for Frontend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75185" y="172511"/>
            <a:ext cx="15397699" cy="1461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13"/>
              </a:lnSpc>
            </a:pPr>
            <a:r>
              <a:rPr lang="en-US" sz="808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CONNECTING TO FRONTEND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17145" y="2218445"/>
            <a:ext cx="7089527" cy="7782852"/>
            <a:chOff x="0" y="0"/>
            <a:chExt cx="1867201" cy="204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7201" cy="2049805"/>
            </a:xfrm>
            <a:custGeom>
              <a:avLst/>
              <a:gdLst/>
              <a:ahLst/>
              <a:cxnLst/>
              <a:rect l="l" t="t" r="r" b="b"/>
              <a:pathLst>
                <a:path w="1867201" h="2049805">
                  <a:moveTo>
                    <a:pt x="55693" y="0"/>
                  </a:moveTo>
                  <a:lnTo>
                    <a:pt x="1811507" y="0"/>
                  </a:lnTo>
                  <a:cubicBezTo>
                    <a:pt x="1826278" y="0"/>
                    <a:pt x="1840444" y="5868"/>
                    <a:pt x="1850888" y="16312"/>
                  </a:cubicBezTo>
                  <a:cubicBezTo>
                    <a:pt x="1861333" y="26757"/>
                    <a:pt x="1867201" y="40922"/>
                    <a:pt x="1867201" y="55693"/>
                  </a:cubicBezTo>
                  <a:lnTo>
                    <a:pt x="1867201" y="1994112"/>
                  </a:lnTo>
                  <a:cubicBezTo>
                    <a:pt x="1867201" y="2008882"/>
                    <a:pt x="1861333" y="2023048"/>
                    <a:pt x="1850888" y="2033493"/>
                  </a:cubicBezTo>
                  <a:cubicBezTo>
                    <a:pt x="1840444" y="2043937"/>
                    <a:pt x="1826278" y="2049805"/>
                    <a:pt x="1811507" y="2049805"/>
                  </a:cubicBezTo>
                  <a:lnTo>
                    <a:pt x="55693" y="2049805"/>
                  </a:lnTo>
                  <a:cubicBezTo>
                    <a:pt x="40922" y="2049805"/>
                    <a:pt x="26757" y="2043937"/>
                    <a:pt x="16312" y="2033493"/>
                  </a:cubicBezTo>
                  <a:cubicBezTo>
                    <a:pt x="5868" y="2023048"/>
                    <a:pt x="0" y="2008882"/>
                    <a:pt x="0" y="1994112"/>
                  </a:cubicBezTo>
                  <a:lnTo>
                    <a:pt x="0" y="55693"/>
                  </a:lnTo>
                  <a:cubicBezTo>
                    <a:pt x="0" y="40922"/>
                    <a:pt x="5868" y="26757"/>
                    <a:pt x="16312" y="16312"/>
                  </a:cubicBezTo>
                  <a:cubicBezTo>
                    <a:pt x="26757" y="5868"/>
                    <a:pt x="40922" y="0"/>
                    <a:pt x="55693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867201" cy="2106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83357" y="2218445"/>
            <a:ext cx="7089527" cy="7782852"/>
            <a:chOff x="0" y="0"/>
            <a:chExt cx="1867201" cy="20498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67201" cy="2049805"/>
            </a:xfrm>
            <a:custGeom>
              <a:avLst/>
              <a:gdLst/>
              <a:ahLst/>
              <a:cxnLst/>
              <a:rect l="l" t="t" r="r" b="b"/>
              <a:pathLst>
                <a:path w="1867201" h="2049805">
                  <a:moveTo>
                    <a:pt x="55693" y="0"/>
                  </a:moveTo>
                  <a:lnTo>
                    <a:pt x="1811507" y="0"/>
                  </a:lnTo>
                  <a:cubicBezTo>
                    <a:pt x="1826278" y="0"/>
                    <a:pt x="1840444" y="5868"/>
                    <a:pt x="1850888" y="16312"/>
                  </a:cubicBezTo>
                  <a:cubicBezTo>
                    <a:pt x="1861333" y="26757"/>
                    <a:pt x="1867201" y="40922"/>
                    <a:pt x="1867201" y="55693"/>
                  </a:cubicBezTo>
                  <a:lnTo>
                    <a:pt x="1867201" y="1994112"/>
                  </a:lnTo>
                  <a:cubicBezTo>
                    <a:pt x="1867201" y="2008882"/>
                    <a:pt x="1861333" y="2023048"/>
                    <a:pt x="1850888" y="2033493"/>
                  </a:cubicBezTo>
                  <a:cubicBezTo>
                    <a:pt x="1840444" y="2043937"/>
                    <a:pt x="1826278" y="2049805"/>
                    <a:pt x="1811507" y="2049805"/>
                  </a:cubicBezTo>
                  <a:lnTo>
                    <a:pt x="55693" y="2049805"/>
                  </a:lnTo>
                  <a:cubicBezTo>
                    <a:pt x="40922" y="2049805"/>
                    <a:pt x="26757" y="2043937"/>
                    <a:pt x="16312" y="2033493"/>
                  </a:cubicBezTo>
                  <a:cubicBezTo>
                    <a:pt x="5868" y="2023048"/>
                    <a:pt x="0" y="2008882"/>
                    <a:pt x="0" y="1994112"/>
                  </a:cubicBezTo>
                  <a:lnTo>
                    <a:pt x="0" y="55693"/>
                  </a:lnTo>
                  <a:cubicBezTo>
                    <a:pt x="0" y="40922"/>
                    <a:pt x="5868" y="26757"/>
                    <a:pt x="16312" y="16312"/>
                  </a:cubicBezTo>
                  <a:cubicBezTo>
                    <a:pt x="26757" y="5868"/>
                    <a:pt x="40922" y="0"/>
                    <a:pt x="55693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67201" cy="2106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15480" y="2666854"/>
            <a:ext cx="6092856" cy="733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Connecting Wallet: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const provider = new BrowserProvider(window.ethereum);</a:t>
            </a:r>
          </a:p>
          <a:p>
            <a:pPr algn="l">
              <a:lnSpc>
                <a:spcPts val="4189"/>
              </a:lnSpc>
            </a:pPr>
            <a:endParaRPr lang="en-US" sz="2992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const connectMetamask = async () =&gt; {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const signer = await provider.getSigner();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alert(`Connected to metamask with address: ${signer.address}`);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};</a:t>
            </a:r>
          </a:p>
          <a:p>
            <a:pPr algn="l">
              <a:lnSpc>
                <a:spcPts val="4189"/>
              </a:lnSpc>
            </a:pPr>
            <a:endParaRPr lang="en-US" sz="2992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081692" y="2666854"/>
            <a:ext cx="6092856" cy="942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99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Accessing Functions from Contract: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const handleSubmit = async (e) =&gt; {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e.preventDefault();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 const signer = await provider.getSigner();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  const contractInstance = new Contract(contractAddress, abi, signer);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await contractInstance.setValue();</a:t>
            </a:r>
          </a:p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algn="l">
              <a:lnSpc>
                <a:spcPts val="4189"/>
              </a:lnSpc>
            </a:pPr>
            <a:endParaRPr lang="en-US" sz="2992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189"/>
              </a:lnSpc>
            </a:pPr>
            <a:endParaRPr lang="en-US" sz="2992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189"/>
              </a:lnSpc>
            </a:pPr>
            <a:endParaRPr lang="en-US" sz="2992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189"/>
              </a:lnSpc>
            </a:pPr>
            <a:endParaRPr lang="en-US" sz="2992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189"/>
              </a:lnSpc>
            </a:pPr>
            <a:endParaRPr lang="en-US" sz="2992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17684" y="2610822"/>
            <a:ext cx="10252632" cy="503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44"/>
              </a:lnSpc>
            </a:pPr>
            <a:r>
              <a:rPr lang="en-US" sz="1700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Custom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Poppins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Solidity and DApp</dc:title>
  <cp:lastModifiedBy>Vinay Chavan</cp:lastModifiedBy>
  <cp:revision>2</cp:revision>
  <dcterms:created xsi:type="dcterms:W3CDTF">2006-08-16T00:00:00Z</dcterms:created>
  <dcterms:modified xsi:type="dcterms:W3CDTF">2025-01-30T04:18:39Z</dcterms:modified>
  <dc:identifier>DAGdmKoct6o</dc:identifier>
</cp:coreProperties>
</file>